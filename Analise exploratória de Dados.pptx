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14"/>
  </p:notesMasterIdLst>
  <p:handoutMasterIdLst>
    <p:handoutMasterId r:id="rId15"/>
  </p:handoutMasterIdLst>
  <p:sldIdLst>
    <p:sldId id="257" r:id="rId2"/>
    <p:sldId id="259" r:id="rId3"/>
    <p:sldId id="261" r:id="rId4"/>
    <p:sldId id="262" r:id="rId5"/>
    <p:sldId id="265" r:id="rId6"/>
    <p:sldId id="266" r:id="rId7"/>
    <p:sldId id="267" r:id="rId8"/>
    <p:sldId id="268" r:id="rId9"/>
    <p:sldId id="269" r:id="rId10"/>
    <p:sldId id="270" r:id="rId11"/>
    <p:sldId id="264" r:id="rId12"/>
    <p:sldId id="260" r:id="rId13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99" d="100"/>
          <a:sy n="99" d="100"/>
        </p:scale>
        <p:origin x="78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C3E0910-793C-46A0-8623-CEAD4857882F}" type="datetime1">
              <a:rPr lang="pt-BR" smtClean="0"/>
              <a:t>01/12/2025</a:t>
            </a:fld>
            <a:endParaRPr lang="en-US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9EE704A-765A-48C7-8594-25B15929F837}" type="datetime1">
              <a:rPr lang="pt-BR" smtClean="0"/>
              <a:t>01/12/2025</a:t>
            </a:fld>
            <a:endParaRPr lang="en-US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/>
              <a:t>Clique para editar o texto Mestre</a:t>
            </a:r>
            <a:endParaRPr lang="en-US"/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 estilo de título Mestre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pt-BR"/>
              <a:t>Clique para editar o estilo do subtítulo Mestre</a:t>
            </a:r>
            <a:endParaRPr lang="en-US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E92B5B4-4D0A-4964-A1A3-B85B0EE00890}" type="datetime1">
              <a:rPr lang="pt-BR" smtClean="0"/>
              <a:t>01/12/2025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23252B5-F3E6-4058-A723-196087E9E541}" type="datetime1">
              <a:rPr lang="pt-BR" smtClean="0"/>
              <a:t>01/12/2025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 estilo de 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A251DFA-97D2-4C90-9100-D1173CC96C37}" type="datetime1">
              <a:rPr lang="pt-BR" smtClean="0"/>
              <a:t>01/12/2025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651B26C-F0DB-4889-B6A3-FE07E152272F}" type="datetime1">
              <a:rPr lang="pt-BR" smtClean="0"/>
              <a:t>01/12/2025</a:t>
            </a:fld>
            <a:endParaRPr lang="en-US" dirty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B0565EE-A4B5-4AB4-9432-D16ECAE9EF1F}" type="datetime1">
              <a:rPr lang="pt-BR" smtClean="0"/>
              <a:t>01/12/2025</a:t>
            </a:fld>
            <a:endParaRPr lang="en-US" dirty="0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C470C2D-02C8-4A1B-A79F-498A53DD951F}" type="datetime1">
              <a:rPr lang="pt-BR" smtClean="0"/>
              <a:t>01/12/2025</a:t>
            </a:fld>
            <a:endParaRPr lang="en-US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094EF83-1835-4C7A-B4B2-F0B720F5AC0B}" type="datetime1">
              <a:rPr lang="pt-BR" smtClean="0"/>
              <a:t>01/12/2025</a:t>
            </a:fld>
            <a:endParaRPr lang="en-US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4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dirty="0"/>
              <a:t>Clique para editar os estilos de 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6F5D5688-1774-4625-9E74-88EA94DB2550}" type="datetime1">
              <a:rPr lang="pt-BR" smtClean="0"/>
              <a:t>01/12/2025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3D5E4E1C-696A-4E82-B6DD-87ECA4CC925A}" type="datetime1">
              <a:rPr lang="pt-BR" smtClean="0"/>
              <a:t>01/12/2025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2E1A5F9-C71D-4DE8-8BF4-9F6FC06A94B8}" type="datetime1">
              <a:rPr lang="pt-BR" smtClean="0"/>
              <a:t>01/12/2025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 estilo de título Mestre</a:t>
            </a:r>
            <a:endParaRPr lang="en-US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21DCD7D-5BFD-485D-AED5-B62EAACA4CB6}" type="datetime1">
              <a:rPr lang="pt-BR" smtClean="0"/>
              <a:t>01/12/2025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66BA6665-D630-4C43-9989-3D086DA68E5F}" type="datetime1">
              <a:rPr lang="pt-BR" smtClean="0"/>
              <a:t>01/12/2025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tângulo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 rtlCol="0">
            <a:normAutofit/>
          </a:bodyPr>
          <a:lstStyle/>
          <a:p>
            <a:pPr rtl="0"/>
            <a:r>
              <a:rPr lang="pt-br" sz="8000" dirty="0"/>
              <a:t>Analise explorat</a:t>
            </a:r>
            <a:r>
              <a:rPr lang="pt-BR" sz="8000" dirty="0"/>
              <a:t>ó</a:t>
            </a:r>
            <a:r>
              <a:rPr lang="pt-br" sz="8000" dirty="0"/>
              <a:t>ria de Dados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 rtlCol="0">
            <a:normAutofit/>
          </a:bodyPr>
          <a:lstStyle/>
          <a:p>
            <a:pPr rtl="0"/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Telecom+</a:t>
            </a:r>
          </a:p>
        </p:txBody>
      </p:sp>
      <p:pic>
        <p:nvPicPr>
          <p:cNvPr id="5" name="Imagem 4" descr="Uma imagem contendo prédio, banco, bancada, lateral&#10;&#10;Descrição gerada automaticamente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C2F8EE-4565-FAB2-EE0C-C07DCE3DB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D1E3F3-1F4B-62E9-37A1-DB6548C77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pt-BR" dirty="0"/>
              <a:t>Contexto</a:t>
            </a:r>
          </a:p>
          <a:p>
            <a:pPr marL="457200" indent="-457200">
              <a:buFont typeface="+mj-lt"/>
              <a:buAutoNum type="arabicPeriod"/>
            </a:pPr>
            <a:r>
              <a:rPr lang="pt-BR" dirty="0"/>
              <a:t>Dados</a:t>
            </a:r>
          </a:p>
          <a:p>
            <a:pPr marL="457200" indent="-457200">
              <a:buFont typeface="+mj-lt"/>
              <a:buAutoNum type="arabicPeriod"/>
            </a:pPr>
            <a:r>
              <a:rPr lang="pt-BR" dirty="0"/>
              <a:t>Insights</a:t>
            </a:r>
          </a:p>
          <a:p>
            <a:pPr marL="457200" indent="-457200">
              <a:buFont typeface="+mj-lt"/>
              <a:buAutoNum type="arabicPeriod"/>
            </a:pPr>
            <a:r>
              <a:rPr lang="pt-BR" dirty="0"/>
              <a:t>Próximos passos</a:t>
            </a:r>
          </a:p>
          <a:p>
            <a:pPr marL="457200" indent="-457200">
              <a:buFont typeface="+mj-lt"/>
              <a:buAutoNum type="arabicPeriod"/>
            </a:pPr>
            <a:endParaRPr lang="pt-BR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D157FE-D6EA-D499-E0BE-76E6A24A5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23252B5-F3E6-4058-A723-196087E9E541}" type="datetime1">
              <a:rPr lang="pt-BR" smtClean="0"/>
              <a:t>01/12/2025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289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7E3BC2-DDB6-31D1-8887-C4009A128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Contexto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4749AE-5EC8-C01C-4B79-72FF195A9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Analise de dados de atendimento ao cliente através do uso de URA (Unidade de Resposta Audível) da empresa TELECOM+</a:t>
            </a:r>
          </a:p>
          <a:p>
            <a:r>
              <a:rPr lang="pt-BR" dirty="0"/>
              <a:t>Exploração dos dados e obtenção de insights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B6274F-F484-686D-AE1B-2C9DCDD1B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23252B5-F3E6-4058-A723-196087E9E541}" type="datetime1">
              <a:rPr lang="pt-BR" smtClean="0"/>
              <a:t>01/12/2025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377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539FF-536C-0132-4A32-A5FF9253B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89BF33-C886-052B-ADA0-DA97D5107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E8E6BD-54DD-1E4D-A7E0-A789FCEAA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190 mil registros</a:t>
            </a:r>
          </a:p>
          <a:p>
            <a:r>
              <a:rPr lang="pt-BR" dirty="0"/>
              <a:t>16 mil chamadas únicas</a:t>
            </a:r>
          </a:p>
          <a:p>
            <a:r>
              <a:rPr lang="pt-BR" dirty="0"/>
              <a:t>13,5 mil clientes distintos</a:t>
            </a:r>
          </a:p>
          <a:p>
            <a:r>
              <a:rPr lang="pt-BR" dirty="0"/>
              <a:t>Dados de todos os estados do país</a:t>
            </a:r>
          </a:p>
          <a:p>
            <a:r>
              <a:rPr lang="pt-BR" dirty="0"/>
              <a:t>74 razões + 147 sub razões classificam a fala do cliente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F3DFD3-E4F7-11F2-5C0F-8A653FE29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23252B5-F3E6-4058-A723-196087E9E541}" type="datetime1">
              <a:rPr lang="pt-BR" smtClean="0"/>
              <a:t>01/12/2025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164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E663DF-66CA-9DB7-562D-21964A295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Insights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617320-99DF-23BA-D7E9-9E7581C808C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BR" dirty="0"/>
              <a:t>~65% das chamadas no Sudeste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5864E04-3DDC-5FB3-2571-D2F7067C2C6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pt-BR" dirty="0"/>
              <a:t>~50% sendo em SP e RJ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9649E3F-FEFD-4803-611E-0AB287837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651B26C-F0DB-4889-B6A3-FE07E152272F}" type="datetime1">
              <a:rPr lang="pt-BR" smtClean="0"/>
              <a:t>01/12/2025</a:t>
            </a:fld>
            <a:endParaRPr lang="en-US" dirty="0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54A67ED0-737E-E904-AD65-08FA2945FD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052" y="2837401"/>
            <a:ext cx="5108191" cy="3031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7F1C9CC9-E894-417E-CF30-CAEBF2ADBA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837402"/>
            <a:ext cx="5108192" cy="3031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7255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0EB788-70B3-F366-A099-A15DB032A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CDE05E-7CC9-AB18-039E-AB875DBEBA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BR" dirty="0"/>
              <a:t>~55% das chamadas feitas pelos planos 4, 1 e 3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F8131EA-106F-1C8D-0F3E-4BE98CE29F6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~75% realizam somente uma chamada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131065A-F8D9-B735-F71C-FFCF694E7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651B26C-F0DB-4889-B6A3-FE07E152272F}" type="datetime1">
              <a:rPr lang="pt-BR" smtClean="0"/>
              <a:t>01/12/2025</a:t>
            </a:fld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6AF5405-AB15-B4AF-B562-71BEE1BC5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052" y="2837402"/>
            <a:ext cx="5108191" cy="3031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253A6ACD-7E9D-2A3A-01F6-3461E61E13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7487" y="2837402"/>
            <a:ext cx="5108193" cy="3031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098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C35E56-2B32-A39C-3BCE-DEB6D782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Insights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161861-5BAB-3828-723D-F66241D5B72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BR" dirty="0"/>
              <a:t>As chamadas duram entre 5 e 10 minutos normalmente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43A52B7-D8C2-9404-2B54-55D2662AE69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pt-BR" dirty="0"/>
              <a:t>Atendimento em horário comercial com pico entre 10h e 13h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37B99BF-6896-7E3F-AF7B-851F754D5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651B26C-F0DB-4889-B6A3-FE07E152272F}" type="datetime1">
              <a:rPr lang="pt-BR" smtClean="0"/>
              <a:t>01/12/2025</a:t>
            </a:fld>
            <a:endParaRPr lang="en-US" dirty="0"/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B0914CC9-BAF0-EA91-3DCF-D2B8F66717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050" y="2837400"/>
            <a:ext cx="5108195" cy="3031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D2F7513F-E404-2214-2BFC-801B117281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5475" y="2837399"/>
            <a:ext cx="5108195" cy="3031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968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4138F9-8837-5875-316F-8E8B924BA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Insights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A3D5EC-FBAF-77BC-8DE1-16536C67588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BR" dirty="0"/>
              <a:t>Preferência por realizar ligações no começo da semana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3A1E937-3350-D2CE-6892-DD7F635FF06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pt-BR" dirty="0"/>
              <a:t>Maior quantidade de chamadas no começo do mês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64A414A-1B21-4584-04A9-3FB0DD1AB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651B26C-F0DB-4889-B6A3-FE07E152272F}" type="datetime1">
              <a:rPr lang="pt-BR" smtClean="0"/>
              <a:t>01/12/2025</a:t>
            </a:fld>
            <a:endParaRPr lang="en-US" dirty="0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2EEEE533-BB45-1010-56FA-20CA39C44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050" y="2837400"/>
            <a:ext cx="5108195" cy="3031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FC1C9DC3-D055-F03B-1562-DCEEC8A84B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480" y="2837400"/>
            <a:ext cx="5108195" cy="3031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9644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2CFF02-5AB8-55EB-9DD1-6DB86F6C3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Insights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0DB4AD-9BE7-6E6E-4B8C-81A4F6C76D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3753853" cy="3748193"/>
          </a:xfrm>
        </p:spPr>
        <p:txBody>
          <a:bodyPr/>
          <a:lstStyle/>
          <a:p>
            <a:r>
              <a:rPr lang="pt-BR" dirty="0"/>
              <a:t>Maioria dos clientes fala sobre:</a:t>
            </a:r>
          </a:p>
          <a:p>
            <a:pPr marL="457200" indent="-457200">
              <a:buFont typeface="+mj-lt"/>
              <a:buAutoNum type="arabicPeriod"/>
            </a:pPr>
            <a:r>
              <a:rPr lang="pt-BR" dirty="0"/>
              <a:t>Informação sobre Plano – 11%</a:t>
            </a:r>
          </a:p>
          <a:p>
            <a:pPr marL="457200" indent="-457200">
              <a:buFont typeface="+mj-lt"/>
              <a:buAutoNum type="arabicPeriod"/>
            </a:pPr>
            <a:r>
              <a:rPr lang="pt-BR" dirty="0"/>
              <a:t>Cancelamento – 8,5%</a:t>
            </a:r>
          </a:p>
          <a:p>
            <a:pPr marL="457200" indent="-457200">
              <a:buFont typeface="+mj-lt"/>
              <a:buAutoNum type="arabicPeriod"/>
            </a:pPr>
            <a:r>
              <a:rPr lang="pt-BR" dirty="0"/>
              <a:t>Contestação de Conta – 6,9%</a:t>
            </a:r>
          </a:p>
          <a:p>
            <a:pPr marL="457200" indent="-457200">
              <a:buFont typeface="+mj-lt"/>
              <a:buAutoNum type="arabicPeriod"/>
            </a:pPr>
            <a:r>
              <a:rPr lang="pt-BR" dirty="0"/>
              <a:t>2a Via/Código de Barras – 4,3%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A0B21BA-20C7-E463-5F1F-C04BC8703FC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5A2C267-AB5C-BAF2-59DA-B73992908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651B26C-F0DB-4889-B6A3-FE07E152272F}" type="datetime1">
              <a:rPr lang="pt-BR" smtClean="0"/>
              <a:t>01/12/2025</a:t>
            </a:fld>
            <a:endParaRPr 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0A0E4782-038F-AD8B-1CDB-B3D1F27D0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1551" y="2120900"/>
            <a:ext cx="6133749" cy="3640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4339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C4EB5-FE1A-D848-E4EE-AAA25DB0A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54C2E6-0125-4DE3-8524-138775AA8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Insights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AB4E2D-8AFF-B539-6BD2-7CCE48E906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3753853" cy="3748193"/>
          </a:xfrm>
        </p:spPr>
        <p:txBody>
          <a:bodyPr/>
          <a:lstStyle/>
          <a:p>
            <a:r>
              <a:rPr lang="pt-BR" dirty="0"/>
              <a:t>Maioria dos clientes fala sobre:</a:t>
            </a:r>
          </a:p>
          <a:p>
            <a:pPr marL="457200" indent="-457200">
              <a:buFont typeface="+mj-lt"/>
              <a:buAutoNum type="arabicPeriod"/>
            </a:pPr>
            <a:r>
              <a:rPr lang="pt-BR" dirty="0"/>
              <a:t>Cancelamento/Contestação</a:t>
            </a:r>
          </a:p>
          <a:p>
            <a:pPr marL="457200" indent="-457200">
              <a:buFont typeface="+mj-lt"/>
              <a:buAutoNum type="arabicPeriod"/>
            </a:pPr>
            <a:r>
              <a:rPr lang="pt-BR" dirty="0"/>
              <a:t>Informações sobre o plano</a:t>
            </a:r>
          </a:p>
          <a:p>
            <a:pPr marL="457200" indent="-457200">
              <a:buFont typeface="+mj-lt"/>
              <a:buAutoNum type="arabicPeriod"/>
            </a:pP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A343D88-BDB7-70FF-1E30-0580E13CB44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6A06066-0183-9C49-8A08-B7593EA1E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651B26C-F0DB-4889-B6A3-FE07E152272F}" type="datetime1">
              <a:rPr lang="pt-BR" smtClean="0"/>
              <a:t>01/12/2025</a:t>
            </a:fld>
            <a:endParaRPr lang="en-US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FBEF00ED-58ED-2487-07B7-91F56E1D08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1551" y="2120900"/>
            <a:ext cx="6133749" cy="3632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3477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49711-BFA9-AC68-B0DC-961412121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86FFD3-A712-6259-B56C-7B51FDBD3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Próximos passos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D7C17E-F706-5738-EBD3-AF64CE13E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pt-BR" dirty="0"/>
              <a:t>Disponibilização de informações sobre o plano diretamente na URA para evitar que clientes cheguem ao Atendimento Humano (mais caro)</a:t>
            </a:r>
          </a:p>
          <a:p>
            <a:pPr marL="457200" indent="-457200">
              <a:buFont typeface="+mj-lt"/>
              <a:buAutoNum type="arabicPeriod"/>
            </a:pPr>
            <a:r>
              <a:rPr lang="pt-BR" dirty="0"/>
              <a:t>Analise de </a:t>
            </a:r>
            <a:r>
              <a:rPr lang="pt-BR" dirty="0" err="1"/>
              <a:t>churn</a:t>
            </a:r>
            <a:r>
              <a:rPr lang="pt-BR" dirty="0"/>
              <a:t> para melhor compreender porque tantas ligações são sobre cancelamento</a:t>
            </a:r>
          </a:p>
          <a:p>
            <a:pPr marL="457200" indent="-457200">
              <a:buFont typeface="+mj-lt"/>
              <a:buAutoNum type="arabicPeriod"/>
            </a:pPr>
            <a:r>
              <a:rPr lang="pt-BR" dirty="0"/>
              <a:t>Analise do processo de atendimento ao cliente para entender toda a experiência da jornada existente</a:t>
            </a:r>
          </a:p>
          <a:p>
            <a:pPr marL="457200" indent="-457200">
              <a:buFont typeface="+mj-lt"/>
              <a:buAutoNum type="arabicPeriod"/>
            </a:pPr>
            <a:endParaRPr lang="pt-BR" dirty="0"/>
          </a:p>
          <a:p>
            <a:endParaRPr lang="pt-BR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E1C542-64D3-3375-0265-54CBA4932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23252B5-F3E6-4058-A723-196087E9E541}" type="datetime1">
              <a:rPr lang="pt-BR" smtClean="0"/>
              <a:t>01/12/2025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412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FBFEA4-DEA5-7280-3C1B-608629CA8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Muito obrigado pela atenção!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258B74-FDB6-D64B-BC0D-FA947017E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Luana Isabella Xavier – RA 10443026</a:t>
            </a:r>
          </a:p>
          <a:p>
            <a:r>
              <a:rPr lang="pt-BR" dirty="0"/>
              <a:t>Henrique Sarmento – RA 1073826</a:t>
            </a:r>
          </a:p>
          <a:p>
            <a:r>
              <a:rPr lang="pt-BR" dirty="0"/>
              <a:t>Lucas José de Carvalho Anastácio - RA 10441680</a:t>
            </a:r>
          </a:p>
          <a:p>
            <a:r>
              <a:rPr lang="pt-BR" dirty="0"/>
              <a:t>Sandro Neves Victorio – RA 10740640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1CAF70-A341-7F49-C2D6-2BAC1DBFC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23252B5-F3E6-4058-A723-196087E9E541}" type="datetime1">
              <a:rPr lang="pt-BR" smtClean="0"/>
              <a:t>01/12/2025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678360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20_TF56160789" id="{80AA9D2D-EE59-4148-A11E-A51EEE828B28}" vid="{AEAFD717-D3C8-4034-8F7E-D5220B0CCEB8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{18CB1E12-C800-403A-A6BB-537816EC8D67}TFf0a5ceae-4542-492d-822e-d65a94fb0e1e14bf61b7_win32-45a160150e4b</Template>
  <TotalTime>45</TotalTime>
  <Words>282</Words>
  <Application>Microsoft Office PowerPoint</Application>
  <PresentationFormat>Widescreen</PresentationFormat>
  <Paragraphs>57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Arial</vt:lpstr>
      <vt:lpstr>Bookman Old Style</vt:lpstr>
      <vt:lpstr>Calibri</vt:lpstr>
      <vt:lpstr>Franklin Gothic Book</vt:lpstr>
      <vt:lpstr>Personalizado</vt:lpstr>
      <vt:lpstr>Analise exploratória de Dados</vt:lpstr>
      <vt:lpstr>Agenda</vt:lpstr>
      <vt:lpstr>Contexto</vt:lpstr>
      <vt:lpstr>Dados</vt:lpstr>
      <vt:lpstr>Insights</vt:lpstr>
      <vt:lpstr>Apresentação do PowerPoint</vt:lpstr>
      <vt:lpstr>Insights</vt:lpstr>
      <vt:lpstr>Insights</vt:lpstr>
      <vt:lpstr>Insights</vt:lpstr>
      <vt:lpstr>Insights</vt:lpstr>
      <vt:lpstr>Próximos passos</vt:lpstr>
      <vt:lpstr>Muito obrigado pela atenção!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Sarmento, Henrique (Bip Group)</dc:creator>
  <cp:lastModifiedBy>Sarmento, Henrique (Bip Group)</cp:lastModifiedBy>
  <cp:revision>1</cp:revision>
  <dcterms:created xsi:type="dcterms:W3CDTF">2025-12-01T22:26:23Z</dcterms:created>
  <dcterms:modified xsi:type="dcterms:W3CDTF">2025-12-01T23:12:15Z</dcterms:modified>
</cp:coreProperties>
</file>